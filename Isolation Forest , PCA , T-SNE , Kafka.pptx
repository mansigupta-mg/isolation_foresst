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07F5B-4211-4293-8126-9B4E8802FA3D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F5856-C00F-41A2-B324-0D9A33558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472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659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F74A-3012-7238-1659-2416393A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4AD36-701D-47ED-CD8E-F158AE838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24D26-4003-D10D-7BD0-4524084DD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B2419-8D96-2FBF-BD79-C62F83E38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17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D7956-DF4B-0B8A-2564-ECF02FC7D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3E1CD-D237-5D67-0EF0-E59838DD9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5F6A5-5073-9FE6-7968-77FD63F05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B998D-AF6A-1AA6-AA5E-C034948ED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841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DB138-3502-3E21-3455-DC766A1E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D69C2-229A-7F92-1092-4DFA2E37D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EFB1C-2C4E-6DE2-3FD2-22FA1F074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12EE6-C3E7-A44E-7B95-152D64FF5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465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1CF8-EEE8-CFEF-B1D3-F0172082B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03B59-A3B7-7D04-A332-0BBE08CCD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A95AB-3F71-6557-3AD6-943B5DDAB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2E536-41FB-D6DD-071A-AB04B42F6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58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BFC02-C5FC-93DD-11EC-7934120DE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7ADFD-579C-2E23-5203-2E353B9E6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74C0B-35E7-9636-EAA7-8A5D33C99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E3F5C-A9DD-53BA-AFBC-0B036B53E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123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03A46-5113-41BB-A255-FCDE9F02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B77C52-D820-A34B-2364-A45C9C8B1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956BA-9572-33D4-CD4F-46173C4EE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9AC5D-E349-301F-2BA1-86235AD66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984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BC4D8-F7BA-3465-3832-AB392843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A8EA6-90BF-B329-5B29-8CCADC82C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73951-55ED-8A0A-C04B-211611C37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DF2C4-55E9-979F-F845-EFAB1E524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945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AB45D-0CD0-B407-4EB9-E9DF6DB6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37EE0-4B59-6B5E-D5FC-BA43F97EE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9265E-F9C3-A4BD-4DD2-6680C4773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E000B-9173-DE07-1961-5BC86F847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102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6F56-0932-6FAB-6F92-11F752DE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800B9-664F-47BD-1BB4-A54875BCC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1CA31-9C36-3786-60E2-23B4EFB59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6A135-120C-18D7-3F4B-14E84687E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587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CD209-8551-34AC-1EF9-301AB8218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0E486-2D9C-4BD4-217C-CCEE02137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9BBDC-7F70-B905-6FD9-49A59BAFF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E9543-25EF-A29A-09FD-E19DEB72E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BF5856-C00F-41A2-B324-0D9A335587B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6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408A-EFDA-1A54-C3DE-1EFCB778B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AD73B-0A48-BEF2-B015-A85A920D5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772E1-1C30-7E82-D8E1-89631FB5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DFC61-E9F2-D192-64CA-C10C8754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6EB04-D9BD-077F-A6F4-36C1D412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582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B81E-E91C-977C-B564-AA394D7A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AB9B5-71BA-445C-A3B0-E988FE5D1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C58DC-E5DF-4559-C829-C9684C3CE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748D9-DA7A-E4C3-569B-AED65B058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891FF-ABB2-81CA-56AA-5DAF7D82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832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A880-5B0C-0C03-B9D6-F2C2659E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37493-E583-611E-D804-ACCEB9BAF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6F4D-4CA1-3E1B-8B23-0E978478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3F36B-C88F-D979-9B0F-1F95CCB85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DB39-F0FA-A82C-B99C-F4ADA58B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7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6934-A950-C2BB-346A-9BC58405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944AC-81BD-CB71-C170-534E514AB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08837-0D7A-1A10-1F1D-6611F1494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A638C-FDB1-1615-6179-1B4325E16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8EA8B-9BC2-0FB7-8658-E6D9101D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E57CA-A61A-1B4A-9D88-923FE02C5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662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7734-000D-320C-7B4C-D48972307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585E7-A865-8F52-9A98-4D3ACCA00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5F45E-EE1E-9D43-7050-9BE05F89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1D599-E54C-E622-DD2E-138A6A999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D564A9-FDEF-DC36-729B-79868618C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487F57-9C44-1911-E15E-D5E820AF1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52574A-EE37-9AD4-77AF-B47175C6E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9B591-81E3-2B6A-405D-272DD373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87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3B86-BF3B-15E0-E6B9-D63AD23E3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BF4718-6F6A-04EB-9CB3-E7252B756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70180-649C-1BA5-A335-D4732F6DB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46AB8-CEED-0592-435D-39455AF1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01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B2E82D-4E3B-682F-67AC-21386E111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01262-E28B-7338-FB70-6D4CCA76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FB14B-4A5D-B3E5-02C7-AEC4C0428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74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690-6F59-2190-9B50-CCA3BA271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4693-6BD1-1204-2A45-F7CA70B18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5DAF4-958B-4CE7-BFE5-23BD1E4B9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4DBAC-9618-DB08-B4D2-56664523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379E1-1BC0-41A6-15A5-E9E201CBB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C7585-6754-C168-7FBC-80857400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832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1685A-7713-C406-CD52-7D0AA3648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2E389-C570-C261-532F-57BB81548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67719-3065-645E-D63C-4D8AF9CD0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08071-783D-5EAD-C294-AF6E2535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11C34-828B-D9DC-D356-7883B687C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170A2-B258-AFA0-CA33-F349F2048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91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C06B-66F5-8D6C-EF93-97AE51C3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DD1DA-8391-272B-1905-A1ACA25CB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CC8C5-5DF9-36FF-EB78-22F91BA0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6B37A-0FDA-7F0F-6F9D-1C7BB5EDE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61187-1C8C-3905-E591-33553902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77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C75A84-EE83-6E71-B627-FCA6117DA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4107D-C312-7C75-AF2B-74289A37C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5D100-B1BE-E3C5-8932-A0F5F94EB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DBAF-8B16-5EF7-F558-A80C84DC9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AE4D6-610B-E39B-4852-68DDCE15B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08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A3911-45F5-6084-9E9E-009CC4E0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49CD8-BB1D-394D-8F9A-F25B4E846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0E547-8C22-C151-E443-3F77FD72DC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0DE76-CC79-4916-8CC0-5C7E11B4BCB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1B837-C698-4A17-80FD-6869D4EB2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973A1-9A46-24F9-F945-86816BFAF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57682-F49D-43FC-A332-3A91D96AB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74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5083-528C-6611-898C-09AFB3E75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Isolation Forest , PCA , T-SNE , Kafka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9C5F8B-8465-D25E-BABC-07DABE0FB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7471" y="4565599"/>
            <a:ext cx="9144000" cy="1655762"/>
          </a:xfrm>
        </p:spPr>
        <p:txBody>
          <a:bodyPr/>
          <a:lstStyle/>
          <a:p>
            <a:r>
              <a:rPr lang="en-US" dirty="0"/>
              <a:t>- Varun Raste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00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B0E566-FFB8-822D-76DA-5D249C88D889}"/>
              </a:ext>
            </a:extLst>
          </p:cNvPr>
          <p:cNvSpPr txBox="1"/>
          <p:nvPr/>
        </p:nvSpPr>
        <p:spPr>
          <a:xfrm>
            <a:off x="287953" y="1443841"/>
            <a:ext cx="496247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Real-world data is noisy, high-dimensional, and imperfect.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Anomalies often represent fraud, system failures, or rare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High-dimensional data is hard to visualize and interpret.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Dimensionality reduction simplifies data without losing key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Together, these techniques improve detection, speed, and explainability.</a:t>
            </a:r>
            <a:endParaRPr lang="en-IN" dirty="0"/>
          </a:p>
        </p:txBody>
      </p:sp>
      <p:pic>
        <p:nvPicPr>
          <p:cNvPr id="1027" name="Picture 3" descr="Anomaly Detection: How to Improve Data for AI | Encord">
            <a:extLst>
              <a:ext uri="{FF2B5EF4-FFF2-40B4-BE49-F238E27FC236}">
                <a16:creationId xmlns:a16="http://schemas.microsoft.com/office/drawing/2014/main" id="{FE50B14E-D890-1E25-A020-65F138752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626" y="1775612"/>
            <a:ext cx="5466421" cy="307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38864B-3B38-44A0-8228-E90BBDF92D7F}"/>
              </a:ext>
            </a:extLst>
          </p:cNvPr>
          <p:cNvSpPr txBox="1"/>
          <p:nvPr/>
        </p:nvSpPr>
        <p:spPr>
          <a:xfrm>
            <a:off x="4581833" y="285137"/>
            <a:ext cx="4316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Anomaly Detection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4767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686B-3233-4813-4515-4CDBE62BB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BCBBA4-B8C4-6DE7-9342-A9A4B9814D84}"/>
              </a:ext>
            </a:extLst>
          </p:cNvPr>
          <p:cNvSpPr txBox="1"/>
          <p:nvPr/>
        </p:nvSpPr>
        <p:spPr>
          <a:xfrm>
            <a:off x="228960" y="903744"/>
            <a:ext cx="832510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Outliers are observations that deviate significantly from normal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may occur due to errors, rare behavior, or genuine extreme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all outliers are noise; some carry high business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Detecting outliers requires understanding data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Context matters more than raw distance from the mean.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 outliers are individual abnormal observations.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Contextual outliers depend on time or location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Collective outliers appear abnormal only as a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detection techniques handle different outlier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Choosing the wrong method can hide true anomalies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9EF99-7834-C504-03DE-D395593EFB08}"/>
              </a:ext>
            </a:extLst>
          </p:cNvPr>
          <p:cNvSpPr txBox="1"/>
          <p:nvPr/>
        </p:nvSpPr>
        <p:spPr>
          <a:xfrm>
            <a:off x="5584722" y="104111"/>
            <a:ext cx="4316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Outliers</a:t>
            </a:r>
            <a:endParaRPr lang="en-IN" sz="2400" dirty="0"/>
          </a:p>
        </p:txBody>
      </p:sp>
      <p:sp>
        <p:nvSpPr>
          <p:cNvPr id="6" name="AutoShape 4" descr="Outliers and Outlier Detection - GeeksforGeeks">
            <a:extLst>
              <a:ext uri="{FF2B5EF4-FFF2-40B4-BE49-F238E27FC236}">
                <a16:creationId xmlns:a16="http://schemas.microsoft.com/office/drawing/2014/main" id="{743B12C5-94A6-20C0-D62B-18CD0D4045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5" name="Picture 7" descr="Outliers and Outlier Detection ...">
            <a:extLst>
              <a:ext uri="{FF2B5EF4-FFF2-40B4-BE49-F238E27FC236}">
                <a16:creationId xmlns:a16="http://schemas.microsoft.com/office/drawing/2014/main" id="{17CF46BA-FE22-21B4-1DD6-27E272127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6" y="2041345"/>
            <a:ext cx="3933210" cy="247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3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73C3C-F769-221F-A238-AACA71495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1EBA3-0DF1-4BF1-DBF7-41AD8EE4E25F}"/>
              </a:ext>
            </a:extLst>
          </p:cNvPr>
          <p:cNvSpPr txBox="1"/>
          <p:nvPr/>
        </p:nvSpPr>
        <p:spPr>
          <a:xfrm>
            <a:off x="228960" y="903744"/>
            <a:ext cx="832510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Outliers are observations that deviate significantly from normal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may occur due to errors, rare behavior, or genuine extreme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all outliers are noise; some carry high business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Detecting outliers requires understanding data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Context matters more than raw distance from the mean.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 outliers are individual abnormal observations.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Contextual outliers depend on time or location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Collective outliers appear abnormal only as a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detection techniques handle different outlier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Choosing the wrong method can hide true anomalies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E3AFC7-C0F0-BFC9-8C85-36DA62AE9FF0}"/>
              </a:ext>
            </a:extLst>
          </p:cNvPr>
          <p:cNvSpPr txBox="1"/>
          <p:nvPr/>
        </p:nvSpPr>
        <p:spPr>
          <a:xfrm>
            <a:off x="5584722" y="104111"/>
            <a:ext cx="4316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Outliers</a:t>
            </a:r>
            <a:endParaRPr lang="en-IN" sz="2400" dirty="0"/>
          </a:p>
        </p:txBody>
      </p:sp>
      <p:sp>
        <p:nvSpPr>
          <p:cNvPr id="6" name="AutoShape 4" descr="Outliers and Outlier Detection - GeeksforGeeks">
            <a:extLst>
              <a:ext uri="{FF2B5EF4-FFF2-40B4-BE49-F238E27FC236}">
                <a16:creationId xmlns:a16="http://schemas.microsoft.com/office/drawing/2014/main" id="{5E158327-1756-CAAE-617A-AC2FBD79F4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5" name="Picture 7" descr="Outliers and Outlier Detection ...">
            <a:extLst>
              <a:ext uri="{FF2B5EF4-FFF2-40B4-BE49-F238E27FC236}">
                <a16:creationId xmlns:a16="http://schemas.microsoft.com/office/drawing/2014/main" id="{6FFA6861-8660-30CD-A3A5-170CE997E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6" y="2041345"/>
            <a:ext cx="3933210" cy="247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20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91954-122A-CF14-AD03-F049BB4B2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476C07-3571-9D86-1093-5E39503A4002}"/>
              </a:ext>
            </a:extLst>
          </p:cNvPr>
          <p:cNvSpPr txBox="1"/>
          <p:nvPr/>
        </p:nvSpPr>
        <p:spPr>
          <a:xfrm>
            <a:off x="4090219" y="104111"/>
            <a:ext cx="4316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Outliers vs Influential Point</a:t>
            </a:r>
            <a:endParaRPr lang="en-IN" sz="2400" dirty="0"/>
          </a:p>
        </p:txBody>
      </p:sp>
      <p:sp>
        <p:nvSpPr>
          <p:cNvPr id="6" name="AutoShape 4" descr="Outliers and Outlier Detection - GeeksforGeeks">
            <a:extLst>
              <a:ext uri="{FF2B5EF4-FFF2-40B4-BE49-F238E27FC236}">
                <a16:creationId xmlns:a16="http://schemas.microsoft.com/office/drawing/2014/main" id="{C1FD7CB4-59A4-83F5-B0D9-8E302B4676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27780B4-BD27-D1E1-6D59-C839DCA30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371" y="2338541"/>
            <a:ext cx="4935977" cy="187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6D5263-4481-E264-6B05-6140C224E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236848"/>
              </p:ext>
            </p:extLst>
          </p:nvPr>
        </p:nvGraphicFramePr>
        <p:xfrm>
          <a:off x="228960" y="1273076"/>
          <a:ext cx="6702783" cy="4681178"/>
        </p:xfrm>
        <a:graphic>
          <a:graphicData uri="http://schemas.openxmlformats.org/drawingml/2006/table">
            <a:tbl>
              <a:tblPr/>
              <a:tblGrid>
                <a:gridCol w="2234261">
                  <a:extLst>
                    <a:ext uri="{9D8B030D-6E8A-4147-A177-3AD203B41FA5}">
                      <a16:colId xmlns:a16="http://schemas.microsoft.com/office/drawing/2014/main" val="3759873772"/>
                    </a:ext>
                  </a:extLst>
                </a:gridCol>
                <a:gridCol w="2234261">
                  <a:extLst>
                    <a:ext uri="{9D8B030D-6E8A-4147-A177-3AD203B41FA5}">
                      <a16:colId xmlns:a16="http://schemas.microsoft.com/office/drawing/2014/main" val="3004170816"/>
                    </a:ext>
                  </a:extLst>
                </a:gridCol>
                <a:gridCol w="2234261">
                  <a:extLst>
                    <a:ext uri="{9D8B030D-6E8A-4147-A177-3AD203B41FA5}">
                      <a16:colId xmlns:a16="http://schemas.microsoft.com/office/drawing/2014/main" val="1939286440"/>
                    </a:ext>
                  </a:extLst>
                </a:gridCol>
              </a:tblGrid>
              <a:tr h="520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Outlier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Influential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748276"/>
                  </a:ext>
                </a:extLst>
              </a:tr>
              <a:tr h="910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Extreme observation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Observation that affects model 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472587"/>
                  </a:ext>
                </a:extLst>
              </a:tr>
              <a:tr h="910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Distance from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Far from most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or may not be 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787153"/>
                  </a:ext>
                </a:extLst>
              </a:tr>
              <a:tr h="520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Effect on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Sometimes minimal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Often significant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65589"/>
                  </a:ext>
                </a:extLst>
              </a:tr>
              <a:tr h="910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Z-score, IQR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Cook’s Distance, leverage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788471"/>
                  </a:ext>
                </a:extLst>
              </a:tr>
              <a:tr h="910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Treatment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Investigate or cap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Always investigate carefully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8917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FD3A37-0B14-8AFE-316A-A703B4FB74C4}"/>
              </a:ext>
            </a:extLst>
          </p:cNvPr>
          <p:cNvSpPr txBox="1"/>
          <p:nvPr/>
        </p:nvSpPr>
        <p:spPr>
          <a:xfrm>
            <a:off x="7433187" y="5004620"/>
            <a:ext cx="46899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“A high-income customer in a luxury dataset is an outlier,</a:t>
            </a:r>
            <a:br>
              <a:rPr lang="en-US" sz="1400" dirty="0"/>
            </a:br>
            <a:r>
              <a:rPr lang="en-US" sz="1400" dirty="0"/>
              <a:t>but a single wrong transaction that shifts the trend line is influential.”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2791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5EC0F-2748-6E67-C4AD-22B8BA04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94B471-78A5-4E5F-3615-E02314C74D38}"/>
              </a:ext>
            </a:extLst>
          </p:cNvPr>
          <p:cNvSpPr txBox="1"/>
          <p:nvPr/>
        </p:nvSpPr>
        <p:spPr>
          <a:xfrm>
            <a:off x="4090219" y="104111"/>
            <a:ext cx="4316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Outliers Detection Methods</a:t>
            </a:r>
            <a:endParaRPr lang="en-IN" sz="2400" dirty="0"/>
          </a:p>
        </p:txBody>
      </p:sp>
      <p:sp>
        <p:nvSpPr>
          <p:cNvPr id="6" name="AutoShape 4" descr="Outliers and Outlier Detection - GeeksforGeeks">
            <a:extLst>
              <a:ext uri="{FF2B5EF4-FFF2-40B4-BE49-F238E27FC236}">
                <a16:creationId xmlns:a16="http://schemas.microsoft.com/office/drawing/2014/main" id="{7F6DAF1E-AF02-FFA8-DD6A-33FEC586D2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40D6BF-81A0-A04C-C796-4165F07113CC}"/>
              </a:ext>
            </a:extLst>
          </p:cNvPr>
          <p:cNvSpPr txBox="1"/>
          <p:nvPr/>
        </p:nvSpPr>
        <p:spPr>
          <a:xfrm>
            <a:off x="98323" y="1983938"/>
            <a:ext cx="91587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Statistical methods assume data follows a known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Z-score flags points far from the mean.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IQR uses quartiles to detect extreme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methods work well for low-dimensional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fail when data is complex or non-linear.</a:t>
            </a:r>
            <a:endParaRPr lang="en-IN" dirty="0"/>
          </a:p>
        </p:txBody>
      </p:sp>
      <p:pic>
        <p:nvPicPr>
          <p:cNvPr id="11266" name="Picture 2" descr="Detecting and Treating Outliers | Treating the odd one out!">
            <a:extLst>
              <a:ext uri="{FF2B5EF4-FFF2-40B4-BE49-F238E27FC236}">
                <a16:creationId xmlns:a16="http://schemas.microsoft.com/office/drawing/2014/main" id="{D996C298-3F07-41CC-4BDF-DCC49AE16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717" y="1272266"/>
            <a:ext cx="5660960" cy="3687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59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1F3A-4889-E710-A274-B82C5D708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70763B-4508-C69B-76AF-D1E5CF077712}"/>
              </a:ext>
            </a:extLst>
          </p:cNvPr>
          <p:cNvSpPr txBox="1"/>
          <p:nvPr/>
        </p:nvSpPr>
        <p:spPr>
          <a:xfrm>
            <a:off x="4090219" y="104111"/>
            <a:ext cx="4316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Isolation Forest</a:t>
            </a:r>
            <a:endParaRPr lang="en-IN" sz="2400" dirty="0"/>
          </a:p>
        </p:txBody>
      </p:sp>
      <p:sp>
        <p:nvSpPr>
          <p:cNvPr id="6" name="AutoShape 4" descr="Outliers and Outlier Detection - GeeksforGeeks">
            <a:extLst>
              <a:ext uri="{FF2B5EF4-FFF2-40B4-BE49-F238E27FC236}">
                <a16:creationId xmlns:a16="http://schemas.microsoft.com/office/drawing/2014/main" id="{B4E0065F-F7F6-188F-0F93-A3B96A7D31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F2BC89-45F1-5CA4-3190-1AA085C7111C}"/>
              </a:ext>
            </a:extLst>
          </p:cNvPr>
          <p:cNvSpPr txBox="1"/>
          <p:nvPr/>
        </p:nvSpPr>
        <p:spPr>
          <a:xfrm>
            <a:off x="260554" y="869732"/>
            <a:ext cx="765932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Isolation Forest is designed specifically for anomaly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isolates anomalies instead of profiling normal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Anomalies are easier to separate than normal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well with high-dimensional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Scales efficiently to large data volumes.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splits partition data recursively.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Anomalies get isolated in fewer splits.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 points require deeper trees to isolate.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Shorter path length indicates higher anomaly likelihood.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distance or density assumptions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E50CBB-8902-A9B0-5C2B-A2E76BC51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393" y="2006432"/>
            <a:ext cx="6272981" cy="335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03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484A8-72DB-7EA9-EAEB-E08CC35F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4BF9C6-C036-E58F-D8A5-D621EB8C2472}"/>
              </a:ext>
            </a:extLst>
          </p:cNvPr>
          <p:cNvSpPr txBox="1"/>
          <p:nvPr/>
        </p:nvSpPr>
        <p:spPr>
          <a:xfrm>
            <a:off x="4090219" y="104111"/>
            <a:ext cx="4316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Curse of Dimensionality</a:t>
            </a:r>
            <a:endParaRPr lang="en-IN" sz="2400" dirty="0"/>
          </a:p>
        </p:txBody>
      </p:sp>
      <p:sp>
        <p:nvSpPr>
          <p:cNvPr id="6" name="AutoShape 4" descr="Outliers and Outlier Detection - GeeksforGeeks">
            <a:extLst>
              <a:ext uri="{FF2B5EF4-FFF2-40B4-BE49-F238E27FC236}">
                <a16:creationId xmlns:a16="http://schemas.microsoft.com/office/drawing/2014/main" id="{0C11F4A3-3FC5-2A1D-F5A1-689F197835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F37CD5-925B-ED6B-B619-B01717A5246C}"/>
              </a:ext>
            </a:extLst>
          </p:cNvPr>
          <p:cNvSpPr txBox="1"/>
          <p:nvPr/>
        </p:nvSpPr>
        <p:spPr>
          <a:xfrm>
            <a:off x="83573" y="1983938"/>
            <a:ext cx="76593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High-dimensional data suffers from the curse of dimensionality.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Distance metrics lose meaning as dimensions increase.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Visualization becomes impossible beyond 3 dimensions.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Dimensionality reduction preserves structure while simplifying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 visualization, noise reduction, and preprocessing.</a:t>
            </a:r>
          </a:p>
        </p:txBody>
      </p:sp>
      <p:pic>
        <p:nvPicPr>
          <p:cNvPr id="5123" name="Picture 3" descr="Curse of Dimensionality - Shiksha Online">
            <a:extLst>
              <a:ext uri="{FF2B5EF4-FFF2-40B4-BE49-F238E27FC236}">
                <a16:creationId xmlns:a16="http://schemas.microsoft.com/office/drawing/2014/main" id="{B1BB58D3-B0DC-4006-8F99-625E22B78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415" y="1749681"/>
            <a:ext cx="5192354" cy="335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09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72FA-6098-F4CA-7968-1A0DEB036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350A89-3D4A-F9AA-175D-A1F88114AAC5}"/>
              </a:ext>
            </a:extLst>
          </p:cNvPr>
          <p:cNvSpPr txBox="1"/>
          <p:nvPr/>
        </p:nvSpPr>
        <p:spPr>
          <a:xfrm>
            <a:off x="5530645" y="46519"/>
            <a:ext cx="8581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PCA</a:t>
            </a:r>
            <a:endParaRPr lang="en-IN" sz="2400" dirty="0"/>
          </a:p>
        </p:txBody>
      </p:sp>
      <p:sp>
        <p:nvSpPr>
          <p:cNvPr id="6" name="AutoShape 4" descr="Outliers and Outlier Detection - GeeksforGeeks">
            <a:extLst>
              <a:ext uri="{FF2B5EF4-FFF2-40B4-BE49-F238E27FC236}">
                <a16:creationId xmlns:a16="http://schemas.microsoft.com/office/drawing/2014/main" id="{1B4110F6-464D-2AD8-45AF-3D8EE30019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DF2A64-FC77-D17C-33E1-0CDA69272A3A}"/>
              </a:ext>
            </a:extLst>
          </p:cNvPr>
          <p:cNvSpPr txBox="1"/>
          <p:nvPr/>
        </p:nvSpPr>
        <p:spPr>
          <a:xfrm>
            <a:off x="260554" y="869732"/>
            <a:ext cx="76593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PCA is a linear dimensionality reduction technique.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transforms features into orthogonal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Components capture maximum variance in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redundancy caused by correlated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Often used as a preprocessing step.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PCA finds directions with maximum data spread.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component captures highest variance.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Subsequent components capture remaining variance.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Components are uncorrelated with each 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Fewer components retain most information.</a:t>
            </a:r>
          </a:p>
        </p:txBody>
      </p:sp>
      <p:pic>
        <p:nvPicPr>
          <p:cNvPr id="6147" name="Picture 3" descr="PCA clearly explained - How, when, why ...">
            <a:extLst>
              <a:ext uri="{FF2B5EF4-FFF2-40B4-BE49-F238E27FC236}">
                <a16:creationId xmlns:a16="http://schemas.microsoft.com/office/drawing/2014/main" id="{B2CAC424-BD3D-BF7C-98AC-CFA4F5464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456" y="1592828"/>
            <a:ext cx="5188667" cy="367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918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E6787-681D-EAA9-C2EB-A607D7B97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8C9FB8-DC97-89BB-3EF8-229FA8A50CBC}"/>
              </a:ext>
            </a:extLst>
          </p:cNvPr>
          <p:cNvSpPr txBox="1"/>
          <p:nvPr/>
        </p:nvSpPr>
        <p:spPr>
          <a:xfrm>
            <a:off x="5196348" y="112297"/>
            <a:ext cx="8581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T-SNE</a:t>
            </a:r>
            <a:endParaRPr lang="en-IN" sz="2400" dirty="0"/>
          </a:p>
        </p:txBody>
      </p:sp>
      <p:sp>
        <p:nvSpPr>
          <p:cNvPr id="6" name="AutoShape 4" descr="Outliers and Outlier Detection - GeeksforGeeks">
            <a:extLst>
              <a:ext uri="{FF2B5EF4-FFF2-40B4-BE49-F238E27FC236}">
                <a16:creationId xmlns:a16="http://schemas.microsoft.com/office/drawing/2014/main" id="{EACCE1AA-AF4A-304F-030E-E925E857BD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C83DB-6BC7-C7E2-99A3-9054B34A4906}"/>
              </a:ext>
            </a:extLst>
          </p:cNvPr>
          <p:cNvSpPr txBox="1"/>
          <p:nvPr/>
        </p:nvSpPr>
        <p:spPr>
          <a:xfrm>
            <a:off x="260554" y="869732"/>
            <a:ext cx="76593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t-SNE is a non-linear dimensionality reduction technique.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Primarily used for visualization in 2D or 3D.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Preserves local neighborhood relationships.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Reveals hidden cluster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designed for downstream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PCA focuses on global variance.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t-SNE focuses on local similarity.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PCA is deterministic and stable.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t-SNE is stochastic and parameter-sensitive.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PCA scales better to large datasets..</a:t>
            </a:r>
          </a:p>
        </p:txBody>
      </p:sp>
      <p:pic>
        <p:nvPicPr>
          <p:cNvPr id="7171" name="Picture 3" descr="Mastering t-SNE(t-distributed ...">
            <a:extLst>
              <a:ext uri="{FF2B5EF4-FFF2-40B4-BE49-F238E27FC236}">
                <a16:creationId xmlns:a16="http://schemas.microsoft.com/office/drawing/2014/main" id="{9C776E67-1015-7E1B-BB5E-2188D1237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257" y="1816740"/>
            <a:ext cx="5163471" cy="322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514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8788B1-2005-E9B5-13CB-EAD76A303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506946"/>
              </p:ext>
            </p:extLst>
          </p:nvPr>
        </p:nvGraphicFramePr>
        <p:xfrm>
          <a:off x="726143" y="1554642"/>
          <a:ext cx="10425081" cy="4382028"/>
        </p:xfrm>
        <a:graphic>
          <a:graphicData uri="http://schemas.openxmlformats.org/drawingml/2006/table">
            <a:tbl>
              <a:tblPr/>
              <a:tblGrid>
                <a:gridCol w="3475027">
                  <a:extLst>
                    <a:ext uri="{9D8B030D-6E8A-4147-A177-3AD203B41FA5}">
                      <a16:colId xmlns:a16="http://schemas.microsoft.com/office/drawing/2014/main" val="2136497769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1565520305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958135505"/>
                    </a:ext>
                  </a:extLst>
                </a:gridCol>
              </a:tblGrid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Aspect</a:t>
                      </a:r>
                      <a:endParaRPr lang="en-IN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PCA (Principal Component Analysis)</a:t>
                      </a:r>
                      <a:endParaRPr lang="en-IN" sz="180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t-SNE (t-Distributed Stochastic Neighbor Embedding)</a:t>
                      </a:r>
                      <a:endParaRPr lang="en-US" sz="180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25452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Type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Linear dimensionality reduction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Non-linear dimensionality reduction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727384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Primary Goal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Preserve maximum variance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Preserve local </a:t>
                      </a:r>
                      <a:r>
                        <a:rPr lang="en-IN" sz="1800" dirty="0" err="1"/>
                        <a:t>neighborhood</a:t>
                      </a:r>
                      <a:r>
                        <a:rPr lang="en-IN" sz="1800" dirty="0"/>
                        <a:t> structure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42624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Output Stability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Deterministic and reproducible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Stochastic; varies across runs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342667"/>
                  </a:ext>
                </a:extLst>
              </a:tr>
              <a:tr h="348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Interpretability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Components are interpretable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Embeddings are not interpretable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66966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Scalability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Fast and scalable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Computationally expensive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28960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 in Pipelines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Yes, usable for </a:t>
                      </a:r>
                      <a:r>
                        <a:rPr lang="en-IN" sz="1800" dirty="0" err="1"/>
                        <a:t>modeling</a:t>
                      </a:r>
                      <a:endParaRPr lang="en-IN" sz="180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No, visualization only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10768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Sensitivity to Scaling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Highly sensitive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Moderately sensitive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628610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Best Use Case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Feature reduction, preprocessing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Data exploration, cluster visualization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87673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3F402EF-7B77-F7BB-08F5-FC9070ABC3F7}"/>
              </a:ext>
            </a:extLst>
          </p:cNvPr>
          <p:cNvSpPr txBox="1"/>
          <p:nvPr/>
        </p:nvSpPr>
        <p:spPr>
          <a:xfrm>
            <a:off x="4906296" y="285135"/>
            <a:ext cx="5447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PCA vs t-SNE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32040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C1EF4-4385-E55C-5067-2010D493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B3DF5E-B182-32AF-50AA-2884EC7FAAA5}"/>
              </a:ext>
            </a:extLst>
          </p:cNvPr>
          <p:cNvSpPr txBox="1"/>
          <p:nvPr/>
        </p:nvSpPr>
        <p:spPr>
          <a:xfrm>
            <a:off x="4632074" y="101035"/>
            <a:ext cx="8581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Kafka Concept</a:t>
            </a:r>
            <a:endParaRPr lang="en-IN" sz="2400" dirty="0"/>
          </a:p>
        </p:txBody>
      </p:sp>
      <p:sp>
        <p:nvSpPr>
          <p:cNvPr id="6" name="AutoShape 4" descr="Outliers and Outlier Detection - GeeksforGeeks">
            <a:extLst>
              <a:ext uri="{FF2B5EF4-FFF2-40B4-BE49-F238E27FC236}">
                <a16:creationId xmlns:a16="http://schemas.microsoft.com/office/drawing/2014/main" id="{77FB4ED4-A02C-60C8-AC2C-1146231018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97760-90F2-7382-97B2-CEE5EF0DF6A4}"/>
              </a:ext>
            </a:extLst>
          </p:cNvPr>
          <p:cNvSpPr txBox="1"/>
          <p:nvPr/>
        </p:nvSpPr>
        <p:spPr>
          <a:xfrm>
            <a:off x="260554" y="869732"/>
            <a:ext cx="76593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Kafka is a distributed event-streaming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Designed for high-throughput, fault-tolerant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Producers publish events to topics.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Consumers subscribe and process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Kafka acts as a real-time data backbone.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Topics</a:t>
            </a:r>
            <a:r>
              <a:rPr lang="en-US" dirty="0"/>
              <a:t> store streams of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Partitions</a:t>
            </a:r>
            <a:r>
              <a:rPr lang="en-US" dirty="0"/>
              <a:t> enable parallelism.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Offsets</a:t>
            </a:r>
            <a:r>
              <a:rPr lang="en-US" dirty="0"/>
              <a:t> track event positions.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Brokers</a:t>
            </a:r>
            <a:r>
              <a:rPr lang="en-US" dirty="0"/>
              <a:t> manage message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Consumer groups</a:t>
            </a:r>
            <a:r>
              <a:rPr lang="en-US" dirty="0"/>
              <a:t> allow scalable consumption.</a:t>
            </a:r>
          </a:p>
        </p:txBody>
      </p:sp>
      <p:sp>
        <p:nvSpPr>
          <p:cNvPr id="5" name="AutoShape 3" descr="Kafka Architecture - GeeksforGeeks">
            <a:extLst>
              <a:ext uri="{FF2B5EF4-FFF2-40B4-BE49-F238E27FC236}">
                <a16:creationId xmlns:a16="http://schemas.microsoft.com/office/drawing/2014/main" id="{611E565C-FCB3-6C45-A564-C0F2374E23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197" name="Picture 5" descr="Kafka Architecture - GeeksforGeeks">
            <a:extLst>
              <a:ext uri="{FF2B5EF4-FFF2-40B4-BE49-F238E27FC236}">
                <a16:creationId xmlns:a16="http://schemas.microsoft.com/office/drawing/2014/main" id="{42F57EE2-9FB4-ABAA-CF4C-5DF9A1C2F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697139"/>
            <a:ext cx="4739148" cy="346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83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CE24-6478-E5CA-1FBD-104B0D3A0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3D4971-3B76-F08D-C162-FAFEDA247461}"/>
              </a:ext>
            </a:extLst>
          </p:cNvPr>
          <p:cNvSpPr txBox="1"/>
          <p:nvPr/>
        </p:nvSpPr>
        <p:spPr>
          <a:xfrm>
            <a:off x="4311445" y="46856"/>
            <a:ext cx="8581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Sliding Window Concept</a:t>
            </a:r>
            <a:endParaRPr lang="en-IN" sz="2400" dirty="0"/>
          </a:p>
        </p:txBody>
      </p:sp>
      <p:sp>
        <p:nvSpPr>
          <p:cNvPr id="6" name="AutoShape 4" descr="Outliers and Outlier Detection - GeeksforGeeks">
            <a:extLst>
              <a:ext uri="{FF2B5EF4-FFF2-40B4-BE49-F238E27FC236}">
                <a16:creationId xmlns:a16="http://schemas.microsoft.com/office/drawing/2014/main" id="{2DED607F-8862-69D4-450C-A6CB41DB98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60B902-A5FC-1998-1F58-C3725A18FEB8}"/>
              </a:ext>
            </a:extLst>
          </p:cNvPr>
          <p:cNvSpPr txBox="1"/>
          <p:nvPr/>
        </p:nvSpPr>
        <p:spPr>
          <a:xfrm>
            <a:off x="260554" y="869732"/>
            <a:ext cx="76593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Sliding windows move continuously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Each event can belong to multiple windows.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Captures evolving trends smoothly.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Useful for anomaly detection and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More computationally expensive than fixed windows.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Fraud detection over recent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Monitoring system metrics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Detecting spikes or drops in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Streaming anomaly detection pipelines.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Alerting systems with low latency.</a:t>
            </a:r>
          </a:p>
        </p:txBody>
      </p:sp>
      <p:sp>
        <p:nvSpPr>
          <p:cNvPr id="5" name="AutoShape 3" descr="Kafka Architecture - GeeksforGeeks">
            <a:extLst>
              <a:ext uri="{FF2B5EF4-FFF2-40B4-BE49-F238E27FC236}">
                <a16:creationId xmlns:a16="http://schemas.microsoft.com/office/drawing/2014/main" id="{72B57E45-1CEA-6EC9-102D-D0546D2A2D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219" name="Picture 3" descr="How to use sliding window with Kafka ...">
            <a:extLst>
              <a:ext uri="{FF2B5EF4-FFF2-40B4-BE49-F238E27FC236}">
                <a16:creationId xmlns:a16="http://schemas.microsoft.com/office/drawing/2014/main" id="{2C9A687B-0B03-93DC-2FE5-5C6E7A22C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592153"/>
            <a:ext cx="4750363" cy="397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136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867</Words>
  <Application>Microsoft Office PowerPoint</Application>
  <PresentationFormat>Widescreen</PresentationFormat>
  <Paragraphs>231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Isolation Forest , PCA , T-SNE , Kafka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satej raste</dc:creator>
  <cp:lastModifiedBy>satej raste</cp:lastModifiedBy>
  <cp:revision>3</cp:revision>
  <dcterms:created xsi:type="dcterms:W3CDTF">2025-12-30T13:28:22Z</dcterms:created>
  <dcterms:modified xsi:type="dcterms:W3CDTF">2025-12-31T06:35:44Z</dcterms:modified>
</cp:coreProperties>
</file>